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Pricing Status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F5A5F"/>
              </a:solidFill>
              <a:effectLst/>
            </c:spPr>
          </c:dPt>
          <c:dPt>
            <c:idx val="1"/>
            <c:bubble3D val="0"/>
            <c:spPr>
              <a:solidFill>
                <a:srgbClr val="FFB400"/>
              </a:solidFill>
              <a:effectLst/>
            </c:spPr>
          </c:dPt>
          <c:dPt>
            <c:idx val="2"/>
            <c:bubble3D val="0"/>
            <c:spPr>
              <a:solidFill>
                <a:srgbClr val="00A699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Increase Price</c:v>
                </c:pt>
                <c:pt idx="1">
                  <c:v>Consider Lowering</c:v>
                </c:pt>
                <c:pt idx="2">
                  <c:v>Maintain Price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20104</c:v>
                </c:pt>
                <c:pt idx="1">
                  <c:v>18983</c:v>
                </c:pt>
                <c:pt idx="2">
                  <c:v>9808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00">
              <a:solidFill>
                <a:srgbClr val="2D2D2D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1.xml"/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D2D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103120"/>
            <a:ext cx="6035040" cy="6035040"/>
          </a:xfrm>
          <a:prstGeom prst="ellipse">
            <a:avLst/>
          </a:prstGeom>
          <a:solidFill>
            <a:srgbClr val="E14850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-548640"/>
            <a:ext cx="3108960" cy="3108960"/>
          </a:xfrm>
          <a:prstGeom prst="ellipse">
            <a:avLst/>
          </a:prstGeom>
          <a:solidFill>
            <a:srgbClr val="FF5A5F">
              <a:alpha val="8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463040" y="4846320"/>
            <a:ext cx="3291840" cy="3291840"/>
          </a:xfrm>
          <a:prstGeom prst="ellipse">
            <a:avLst/>
          </a:prstGeom>
          <a:solidFill>
            <a:srgbClr val="00A699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594360"/>
            <a:ext cx="658368" cy="658368"/>
          </a:xfrm>
          <a:prstGeom prst="ellipse">
            <a:avLst/>
          </a:prstGeom>
          <a:solidFill>
            <a:srgbClr val="FF5A5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1256" y="765536"/>
            <a:ext cx="316017" cy="31601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4360" y="2331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0A6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ANALYTICS PORTFOLIO PROJECT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66928" y="2697480"/>
            <a:ext cx="105156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Airbnb Dynamic Pricing</a:t>
            </a:r>
            <a:endParaRPr lang="en-US" sz="46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 Engine</a:t>
            </a:r>
            <a:endParaRPr lang="en-US" sz="4600" dirty="0"/>
          </a:p>
        </p:txBody>
      </p:sp>
      <p:sp>
        <p:nvSpPr>
          <p:cNvPr id="9" name="Text 6"/>
          <p:cNvSpPr/>
          <p:nvPr/>
        </p:nvSpPr>
        <p:spPr>
          <a:xfrm>
            <a:off x="594360" y="443484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CFC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Benchmarking every NYC listing's price against comparable market</a:t>
            </a:r>
            <a:endParaRPr lang="en-US" sz="15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CFC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medians to guide data-driven pricing decisions.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94360" y="5806440"/>
            <a:ext cx="1481328" cy="457200"/>
          </a:xfrm>
          <a:prstGeom prst="roundRect">
            <a:avLst>
              <a:gd name="adj" fmla="val 50000"/>
            </a:avLst>
          </a:prstGeom>
          <a:solidFill>
            <a:srgbClr val="3A3A3A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" y="5925312"/>
            <a:ext cx="219456" cy="2194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14984" y="5806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2258568" y="5806440"/>
            <a:ext cx="1481328" cy="457200"/>
          </a:xfrm>
          <a:prstGeom prst="roundRect">
            <a:avLst>
              <a:gd name="adj" fmla="val 50000"/>
            </a:avLst>
          </a:prstGeom>
          <a:solidFill>
            <a:srgbClr val="3A3A3A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4872" y="5925312"/>
            <a:ext cx="219456" cy="21945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679192" y="5806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3922776" y="5806440"/>
            <a:ext cx="1481328" cy="457200"/>
          </a:xfrm>
          <a:prstGeom prst="roundRect">
            <a:avLst>
              <a:gd name="adj" fmla="val 50000"/>
            </a:avLst>
          </a:prstGeom>
          <a:solidFill>
            <a:srgbClr val="3A3A3A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9080" y="5925312"/>
            <a:ext cx="219456" cy="21945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343400" y="5806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BI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59436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48,895 NYC Listings  |  5 Boroughs  |  Median-Benchmark Pricing Logic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5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PROJECT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Problem &amp; Objective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257800" cy="4892040"/>
          </a:xfrm>
          <a:prstGeom prst="roundRect">
            <a:avLst>
              <a:gd name="adj" fmla="val 1495"/>
            </a:avLst>
          </a:prstGeom>
          <a:solidFill>
            <a:srgbClr val="F7F7F7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783080"/>
            <a:ext cx="502920" cy="502920"/>
          </a:xfrm>
          <a:prstGeom prst="ellipse">
            <a:avLst/>
          </a:prstGeom>
          <a:solidFill>
            <a:srgbClr val="FF5A5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9439" y="1913839"/>
            <a:ext cx="241402" cy="2414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81051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68680" y="2514600"/>
            <a:ext cx="4663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Airbnb hosts frequently price listings by intuition rather than by comparing against similar, nearby listings — leaving money on the table or pricing themselves out of bookings.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68680" y="36118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5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41.1%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2240280" y="3639312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listings priced below comparable market median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868680" y="43891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5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38.8%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2240280" y="4416552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priced above the median — a competitiveness risk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868680" y="5989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engineered pricing_status field, 48,895 listings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6382512" y="1463040"/>
            <a:ext cx="5257800" cy="4892040"/>
          </a:xfrm>
          <a:prstGeom prst="roundRect">
            <a:avLst>
              <a:gd name="adj" fmla="val 1495"/>
            </a:avLst>
          </a:prstGeom>
          <a:solidFill>
            <a:srgbClr val="2D2D2D"/>
          </a:solidFill>
          <a:ln/>
        </p:spPr>
      </p:sp>
      <p:sp>
        <p:nvSpPr>
          <p:cNvPr id="15" name="Shape 12"/>
          <p:cNvSpPr/>
          <p:nvPr/>
        </p:nvSpPr>
        <p:spPr>
          <a:xfrm>
            <a:off x="6702552" y="1783080"/>
            <a:ext cx="502920" cy="502920"/>
          </a:xfrm>
          <a:prstGeom prst="ellipse">
            <a:avLst/>
          </a:prstGeom>
          <a:solidFill>
            <a:srgbClr val="00A699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3311" y="1913839"/>
            <a:ext cx="241402" cy="24140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342632" y="181051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Objective</a:t>
            </a:r>
            <a:endParaRPr lang="en-US" sz="1800" dirty="0"/>
          </a:p>
        </p:txBody>
      </p:sp>
      <p:sp>
        <p:nvSpPr>
          <p:cNvPr id="18" name="Text 14"/>
          <p:cNvSpPr/>
          <p:nvPr/>
        </p:nvSpPr>
        <p:spPr>
          <a:xfrm>
            <a:off x="6702552" y="2514600"/>
            <a:ext cx="4663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E4E4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a data-driven recommendation engine that benchmarks each listing's current price against the median price of comparable listings — same borough and same room type — and returns a clear pricing action.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6702552" y="4160520"/>
            <a:ext cx="4343400" cy="566928"/>
          </a:xfrm>
          <a:prstGeom prst="roundRect">
            <a:avLst>
              <a:gd name="adj" fmla="val 16129"/>
            </a:avLst>
          </a:prstGeom>
          <a:solidFill>
            <a:srgbClr val="3A3A3A"/>
          </a:solidFill>
          <a:ln/>
        </p:spPr>
      </p:sp>
      <p:sp>
        <p:nvSpPr>
          <p:cNvPr id="20" name="Text 16"/>
          <p:cNvSpPr/>
          <p:nvPr/>
        </p:nvSpPr>
        <p:spPr>
          <a:xfrm>
            <a:off x="6812280" y="4160520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5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21" name="Text 17"/>
          <p:cNvSpPr/>
          <p:nvPr/>
        </p:nvSpPr>
        <p:spPr>
          <a:xfrm>
            <a:off x="7223760" y="4160520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Price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6702552" y="4873752"/>
            <a:ext cx="4343400" cy="566928"/>
          </a:xfrm>
          <a:prstGeom prst="roundRect">
            <a:avLst>
              <a:gd name="adj" fmla="val 16129"/>
            </a:avLst>
          </a:prstGeom>
          <a:solidFill>
            <a:srgbClr val="3A3A3A"/>
          </a:solidFill>
          <a:ln/>
        </p:spPr>
      </p:sp>
      <p:sp>
        <p:nvSpPr>
          <p:cNvPr id="23" name="Text 19"/>
          <p:cNvSpPr/>
          <p:nvPr/>
        </p:nvSpPr>
        <p:spPr>
          <a:xfrm>
            <a:off x="6812280" y="4873752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5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24" name="Text 20"/>
          <p:cNvSpPr/>
          <p:nvPr/>
        </p:nvSpPr>
        <p:spPr>
          <a:xfrm>
            <a:off x="7223760" y="4873752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 vs. Median</a:t>
            </a:r>
            <a:endParaRPr lang="en-US" sz="1300" dirty="0"/>
          </a:p>
        </p:txBody>
      </p:sp>
      <p:sp>
        <p:nvSpPr>
          <p:cNvPr id="25" name="Shape 21"/>
          <p:cNvSpPr/>
          <p:nvPr/>
        </p:nvSpPr>
        <p:spPr>
          <a:xfrm>
            <a:off x="6702552" y="5586984"/>
            <a:ext cx="4343400" cy="566928"/>
          </a:xfrm>
          <a:prstGeom prst="roundRect">
            <a:avLst>
              <a:gd name="adj" fmla="val 16129"/>
            </a:avLst>
          </a:prstGeom>
          <a:solidFill>
            <a:srgbClr val="3A3A3A"/>
          </a:solidFill>
          <a:ln/>
        </p:spPr>
      </p:sp>
      <p:sp>
        <p:nvSpPr>
          <p:cNvPr id="26" name="Text 22"/>
          <p:cNvSpPr/>
          <p:nvPr/>
        </p:nvSpPr>
        <p:spPr>
          <a:xfrm>
            <a:off x="6812280" y="5586984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5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27" name="Text 23"/>
          <p:cNvSpPr/>
          <p:nvPr/>
        </p:nvSpPr>
        <p:spPr>
          <a:xfrm>
            <a:off x="7223760" y="5586984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 Action</a:t>
            </a:r>
            <a:endParaRPr lang="en-US" sz="1300" dirty="0"/>
          </a:p>
        </p:txBody>
      </p:sp>
      <p:sp>
        <p:nvSpPr>
          <p:cNvPr id="28" name="Text 24"/>
          <p:cNvSpPr/>
          <p:nvPr/>
        </p:nvSpPr>
        <p:spPr>
          <a:xfrm>
            <a:off x="10911535" y="647395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5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&amp; Tools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457200" cy="457200"/>
          </a:xfrm>
          <a:prstGeom prst="ellipse">
            <a:avLst/>
          </a:prstGeom>
          <a:solidFill>
            <a:srgbClr val="FF5A5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1600200"/>
            <a:ext cx="219456" cy="219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3000" y="153619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York City Airbnb Listings Dataset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2148840"/>
            <a:ext cx="1691640" cy="914400"/>
          </a:xfrm>
          <a:prstGeom prst="roundRect">
            <a:avLst>
              <a:gd name="adj" fmla="val 8000"/>
            </a:avLst>
          </a:prstGeom>
          <a:solidFill>
            <a:srgbClr val="F7F7F7"/>
          </a:solidFill>
          <a:ln/>
        </p:spPr>
      </p:sp>
      <p:sp>
        <p:nvSpPr>
          <p:cNvPr id="8" name="Text 5"/>
          <p:cNvSpPr/>
          <p:nvPr/>
        </p:nvSpPr>
        <p:spPr>
          <a:xfrm>
            <a:off x="658368" y="22402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5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48,895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658368" y="27157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Listings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2377440" y="2148840"/>
            <a:ext cx="1691640" cy="914400"/>
          </a:xfrm>
          <a:prstGeom prst="roundRect">
            <a:avLst>
              <a:gd name="adj" fmla="val 8000"/>
            </a:avLst>
          </a:prstGeom>
          <a:solidFill>
            <a:srgbClr val="F7F7F7"/>
          </a:solidFill>
          <a:ln/>
        </p:spPr>
      </p:sp>
      <p:sp>
        <p:nvSpPr>
          <p:cNvPr id="11" name="Text 8"/>
          <p:cNvSpPr/>
          <p:nvPr/>
        </p:nvSpPr>
        <p:spPr>
          <a:xfrm>
            <a:off x="2487168" y="22402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5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2487168" y="27157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Columns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206240" y="2148840"/>
            <a:ext cx="1691640" cy="914400"/>
          </a:xfrm>
          <a:prstGeom prst="roundRect">
            <a:avLst>
              <a:gd name="adj" fmla="val 8000"/>
            </a:avLst>
          </a:prstGeom>
          <a:solidFill>
            <a:srgbClr val="F7F7F7"/>
          </a:solidFill>
          <a:ln/>
        </p:spPr>
      </p:sp>
      <p:sp>
        <p:nvSpPr>
          <p:cNvPr id="14" name="Text 11"/>
          <p:cNvSpPr/>
          <p:nvPr/>
        </p:nvSpPr>
        <p:spPr>
          <a:xfrm>
            <a:off x="4315968" y="22402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5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4315968" y="27157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Boroughs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48640" y="3200400"/>
            <a:ext cx="1691640" cy="914400"/>
          </a:xfrm>
          <a:prstGeom prst="roundRect">
            <a:avLst>
              <a:gd name="adj" fmla="val 8000"/>
            </a:avLst>
          </a:prstGeom>
          <a:solidFill>
            <a:srgbClr val="F7F7F7"/>
          </a:solidFill>
          <a:ln/>
        </p:spPr>
      </p:sp>
      <p:sp>
        <p:nvSpPr>
          <p:cNvPr id="17" name="Text 14"/>
          <p:cNvSpPr/>
          <p:nvPr/>
        </p:nvSpPr>
        <p:spPr>
          <a:xfrm>
            <a:off x="658368" y="32918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5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221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658368" y="376732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Neighborhoods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2377440" y="3200400"/>
            <a:ext cx="1691640" cy="914400"/>
          </a:xfrm>
          <a:prstGeom prst="roundRect">
            <a:avLst>
              <a:gd name="adj" fmla="val 8000"/>
            </a:avLst>
          </a:prstGeom>
          <a:solidFill>
            <a:srgbClr val="F7F7F7"/>
          </a:solidFill>
          <a:ln/>
        </p:spPr>
      </p:sp>
      <p:sp>
        <p:nvSpPr>
          <p:cNvPr id="20" name="Text 17"/>
          <p:cNvSpPr/>
          <p:nvPr/>
        </p:nvSpPr>
        <p:spPr>
          <a:xfrm>
            <a:off x="2487168" y="32918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5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2487168" y="376732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Room Types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4206240" y="3200400"/>
            <a:ext cx="1691640" cy="914400"/>
          </a:xfrm>
          <a:prstGeom prst="roundRect">
            <a:avLst>
              <a:gd name="adj" fmla="val 8000"/>
            </a:avLst>
          </a:prstGeom>
          <a:solidFill>
            <a:srgbClr val="F7F7F7"/>
          </a:solidFill>
          <a:ln/>
        </p:spPr>
      </p:sp>
      <p:sp>
        <p:nvSpPr>
          <p:cNvPr id="23" name="Text 20"/>
          <p:cNvSpPr/>
          <p:nvPr/>
        </p:nvSpPr>
        <p:spPr>
          <a:xfrm>
            <a:off x="4315968" y="32918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5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4315968" y="376732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Duplicate Rows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548640" y="4343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Quality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548640" y="46634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last_review / reviews_per_month:  </a:t>
            </a:r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20.6% missing (10,052 rows) — no review history yet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548640" y="5074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/ host_name:  </a:t>
            </a:r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0.1% missing (26 / 22 rows)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548640" y="5486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Duplicate records:  </a:t>
            </a:r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— dataset verified clean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6446520" y="1463040"/>
            <a:ext cx="5193792" cy="4937760"/>
          </a:xfrm>
          <a:prstGeom prst="roundRect">
            <a:avLst>
              <a:gd name="adj" fmla="val 1481"/>
            </a:avLst>
          </a:prstGeom>
          <a:solidFill>
            <a:srgbClr val="2D2D2D"/>
          </a:solidFill>
          <a:ln/>
        </p:spPr>
      </p:sp>
      <p:sp>
        <p:nvSpPr>
          <p:cNvPr id="30" name="Text 27"/>
          <p:cNvSpPr/>
          <p:nvPr/>
        </p:nvSpPr>
        <p:spPr>
          <a:xfrm>
            <a:off x="6766560" y="166420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 Workflow</a:t>
            </a:r>
            <a:endParaRPr lang="en-US" sz="1500" dirty="0"/>
          </a:p>
        </p:txBody>
      </p:sp>
      <p:sp>
        <p:nvSpPr>
          <p:cNvPr id="31" name="Shape 28"/>
          <p:cNvSpPr/>
          <p:nvPr/>
        </p:nvSpPr>
        <p:spPr>
          <a:xfrm>
            <a:off x="6766560" y="2240280"/>
            <a:ext cx="566928" cy="566928"/>
          </a:xfrm>
          <a:prstGeom prst="ellipse">
            <a:avLst/>
          </a:prstGeom>
          <a:solidFill>
            <a:srgbClr val="FF5A5F"/>
          </a:solidFill>
          <a:ln/>
        </p:spPr>
      </p:sp>
      <p:pic>
        <p:nvPicPr>
          <p:cNvPr id="3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3961" y="2387681"/>
            <a:ext cx="272125" cy="272125"/>
          </a:xfrm>
          <a:prstGeom prst="rect">
            <a:avLst/>
          </a:prstGeom>
        </p:spPr>
      </p:pic>
      <p:sp>
        <p:nvSpPr>
          <p:cNvPr id="33" name="Text 29"/>
          <p:cNvSpPr/>
          <p:nvPr/>
        </p:nvSpPr>
        <p:spPr>
          <a:xfrm>
            <a:off x="7498080" y="222199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</a:t>
            </a:r>
            <a:endParaRPr lang="en-US" sz="1450" dirty="0"/>
          </a:p>
        </p:txBody>
      </p:sp>
      <p:sp>
        <p:nvSpPr>
          <p:cNvPr id="34" name="Text 30"/>
          <p:cNvSpPr/>
          <p:nvPr/>
        </p:nvSpPr>
        <p:spPr>
          <a:xfrm>
            <a:off x="7498080" y="2532888"/>
            <a:ext cx="3977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CFC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cleaning, EDA &amp; feature logic — Pandas, NumPy, Matplotlib</a:t>
            </a:r>
            <a:endParaRPr lang="en-US" sz="1100" dirty="0"/>
          </a:p>
        </p:txBody>
      </p:sp>
      <p:sp>
        <p:nvSpPr>
          <p:cNvPr id="35" name="Shape 31"/>
          <p:cNvSpPr/>
          <p:nvPr/>
        </p:nvSpPr>
        <p:spPr>
          <a:xfrm>
            <a:off x="7050024" y="2862072"/>
            <a:ext cx="0" cy="566928"/>
          </a:xfrm>
          <a:prstGeom prst="line">
            <a:avLst/>
          </a:prstGeom>
          <a:noFill/>
          <a:ln w="19050">
            <a:solidFill>
              <a:srgbClr val="5A5A5A"/>
            </a:solidFill>
            <a:prstDash val="dash"/>
          </a:ln>
        </p:spPr>
      </p:sp>
      <p:sp>
        <p:nvSpPr>
          <p:cNvPr id="36" name="Shape 32"/>
          <p:cNvSpPr/>
          <p:nvPr/>
        </p:nvSpPr>
        <p:spPr>
          <a:xfrm>
            <a:off x="6766560" y="3538728"/>
            <a:ext cx="566928" cy="566928"/>
          </a:xfrm>
          <a:prstGeom prst="ellipse">
            <a:avLst/>
          </a:prstGeom>
          <a:solidFill>
            <a:srgbClr val="FF5A5F"/>
          </a:solidFill>
          <a:ln/>
        </p:spPr>
      </p:sp>
      <p:pic>
        <p:nvPicPr>
          <p:cNvPr id="3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3961" y="3686129"/>
            <a:ext cx="272125" cy="272125"/>
          </a:xfrm>
          <a:prstGeom prst="rect">
            <a:avLst/>
          </a:prstGeom>
        </p:spPr>
      </p:pic>
      <p:sp>
        <p:nvSpPr>
          <p:cNvPr id="38" name="Text 33"/>
          <p:cNvSpPr/>
          <p:nvPr/>
        </p:nvSpPr>
        <p:spPr>
          <a:xfrm>
            <a:off x="7498080" y="35204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</a:t>
            </a:r>
            <a:endParaRPr lang="en-US" sz="1450" dirty="0"/>
          </a:p>
        </p:txBody>
      </p:sp>
      <p:sp>
        <p:nvSpPr>
          <p:cNvPr id="39" name="Text 34"/>
          <p:cNvSpPr/>
          <p:nvPr/>
        </p:nvSpPr>
        <p:spPr>
          <a:xfrm>
            <a:off x="7498080" y="3831336"/>
            <a:ext cx="3977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CFC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Engineered categories &amp; the pricing recommendation columns</a:t>
            </a:r>
            <a:endParaRPr lang="en-US" sz="1100" dirty="0"/>
          </a:p>
        </p:txBody>
      </p:sp>
      <p:sp>
        <p:nvSpPr>
          <p:cNvPr id="40" name="Shape 35"/>
          <p:cNvSpPr/>
          <p:nvPr/>
        </p:nvSpPr>
        <p:spPr>
          <a:xfrm>
            <a:off x="7050024" y="4160520"/>
            <a:ext cx="0" cy="566928"/>
          </a:xfrm>
          <a:prstGeom prst="line">
            <a:avLst/>
          </a:prstGeom>
          <a:noFill/>
          <a:ln w="19050">
            <a:solidFill>
              <a:srgbClr val="5A5A5A"/>
            </a:solidFill>
            <a:prstDash val="dash"/>
          </a:ln>
        </p:spPr>
      </p:sp>
      <p:sp>
        <p:nvSpPr>
          <p:cNvPr id="41" name="Shape 36"/>
          <p:cNvSpPr/>
          <p:nvPr/>
        </p:nvSpPr>
        <p:spPr>
          <a:xfrm>
            <a:off x="6766560" y="4837176"/>
            <a:ext cx="566928" cy="566928"/>
          </a:xfrm>
          <a:prstGeom prst="ellipse">
            <a:avLst/>
          </a:prstGeom>
          <a:solidFill>
            <a:srgbClr val="FF5A5F"/>
          </a:solidFill>
          <a:ln/>
        </p:spPr>
      </p:sp>
      <p:pic>
        <p:nvPicPr>
          <p:cNvPr id="4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3961" y="4984577"/>
            <a:ext cx="272125" cy="272125"/>
          </a:xfrm>
          <a:prstGeom prst="rect">
            <a:avLst/>
          </a:prstGeom>
        </p:spPr>
      </p:pic>
      <p:sp>
        <p:nvSpPr>
          <p:cNvPr id="43" name="Text 37"/>
          <p:cNvSpPr/>
          <p:nvPr/>
        </p:nvSpPr>
        <p:spPr>
          <a:xfrm>
            <a:off x="7498080" y="481888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BI</a:t>
            </a:r>
            <a:endParaRPr lang="en-US" sz="1450" dirty="0"/>
          </a:p>
        </p:txBody>
      </p:sp>
      <p:sp>
        <p:nvSpPr>
          <p:cNvPr id="44" name="Text 38"/>
          <p:cNvSpPr/>
          <p:nvPr/>
        </p:nvSpPr>
        <p:spPr>
          <a:xfrm>
            <a:off x="7498080" y="5129784"/>
            <a:ext cx="3977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CFC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3-page dashboard for stakeholder storytelling</a:t>
            </a:r>
            <a:endParaRPr lang="en-US" sz="1100" dirty="0"/>
          </a:p>
        </p:txBody>
      </p:sp>
      <p:sp>
        <p:nvSpPr>
          <p:cNvPr id="45" name="Text 39"/>
          <p:cNvSpPr/>
          <p:nvPr/>
        </p:nvSpPr>
        <p:spPr>
          <a:xfrm>
            <a:off x="10911535" y="647395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5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EDA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Exploratory Data Analysis — Key Signals</a:t>
            </a:r>
            <a:endParaRPr lang="en-US" sz="3000" dirty="0"/>
          </a:p>
        </p:txBody>
      </p:sp>
      <p:pic>
        <p:nvPicPr>
          <p:cNvPr id="4" name="Image 0" descr="/home/claude/assets/eda_price_boroug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81328"/>
            <a:ext cx="3703320" cy="2496312"/>
          </a:xfrm>
          <a:prstGeom prst="rect">
            <a:avLst/>
          </a:prstGeom>
        </p:spPr>
      </p:pic>
      <p:pic>
        <p:nvPicPr>
          <p:cNvPr id="5" name="Image 1" descr="/home/claude/assets/eda_price_roomtyp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5968" y="1481328"/>
            <a:ext cx="3520440" cy="2496312"/>
          </a:xfrm>
          <a:prstGeom prst="rect">
            <a:avLst/>
          </a:prstGeom>
        </p:spPr>
      </p:pic>
      <p:pic>
        <p:nvPicPr>
          <p:cNvPr id="6" name="Image 2" descr="/home/claude/assets/eda_top_neighborhood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1481328"/>
            <a:ext cx="3749040" cy="2496312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502920" y="4160520"/>
            <a:ext cx="11201400" cy="2148840"/>
          </a:xfrm>
          <a:prstGeom prst="roundRect">
            <a:avLst>
              <a:gd name="adj" fmla="val 3404"/>
            </a:avLst>
          </a:prstGeom>
          <a:solidFill>
            <a:srgbClr val="F7F7F7"/>
          </a:solidFill>
          <a:ln/>
        </p:spPr>
      </p:sp>
      <p:sp>
        <p:nvSpPr>
          <p:cNvPr id="8" name="Shape 3"/>
          <p:cNvSpPr/>
          <p:nvPr/>
        </p:nvSpPr>
        <p:spPr>
          <a:xfrm>
            <a:off x="777240" y="4407408"/>
            <a:ext cx="457200" cy="457200"/>
          </a:xfrm>
          <a:prstGeom prst="ellipse">
            <a:avLst/>
          </a:prstGeom>
          <a:solidFill>
            <a:srgbClr val="00A699"/>
          </a:solidFill>
          <a:ln/>
        </p:spPr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4526280"/>
            <a:ext cx="219456" cy="219456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1371600" y="446227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Data Shows</a:t>
            </a:r>
            <a:endParaRPr lang="en-US" sz="1450" dirty="0"/>
          </a:p>
        </p:txBody>
      </p:sp>
      <p:sp>
        <p:nvSpPr>
          <p:cNvPr id="11" name="Shape 5"/>
          <p:cNvSpPr/>
          <p:nvPr/>
        </p:nvSpPr>
        <p:spPr>
          <a:xfrm>
            <a:off x="777240" y="5010912"/>
            <a:ext cx="73152" cy="73152"/>
          </a:xfrm>
          <a:prstGeom prst="ellipse">
            <a:avLst/>
          </a:prstGeom>
          <a:solidFill>
            <a:srgbClr val="FF5A5F"/>
          </a:solidFill>
          <a:ln/>
        </p:spPr>
      </p:sp>
      <p:sp>
        <p:nvSpPr>
          <p:cNvPr id="12" name="Text 6"/>
          <p:cNvSpPr/>
          <p:nvPr/>
        </p:nvSpPr>
        <p:spPr>
          <a:xfrm>
            <a:off x="960120" y="4882896"/>
            <a:ext cx="10561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Manhattan averages $196.88/night vs. $87.50 in the Bronx — a 2.25x price gap across boroughs.</a:t>
            </a:r>
            <a:endParaRPr lang="en-US" sz="1200" dirty="0"/>
          </a:p>
        </p:txBody>
      </p:sp>
      <p:sp>
        <p:nvSpPr>
          <p:cNvPr id="13" name="Shape 7"/>
          <p:cNvSpPr/>
          <p:nvPr/>
        </p:nvSpPr>
        <p:spPr>
          <a:xfrm>
            <a:off x="777240" y="5440680"/>
            <a:ext cx="73152" cy="73152"/>
          </a:xfrm>
          <a:prstGeom prst="ellipse">
            <a:avLst/>
          </a:prstGeom>
          <a:solidFill>
            <a:srgbClr val="FF5A5F"/>
          </a:solidFill>
          <a:ln/>
        </p:spPr>
      </p:sp>
      <p:sp>
        <p:nvSpPr>
          <p:cNvPr id="14" name="Text 8"/>
          <p:cNvSpPr/>
          <p:nvPr/>
        </p:nvSpPr>
        <p:spPr>
          <a:xfrm>
            <a:off x="960120" y="5312664"/>
            <a:ext cx="10561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Entire home/apt averages $211.79/night, nearly 3x a shared room's $70.13 — room type drives price more than any other factor.</a:t>
            </a:r>
            <a:endParaRPr lang="en-US" sz="1200" dirty="0"/>
          </a:p>
        </p:txBody>
      </p:sp>
      <p:sp>
        <p:nvSpPr>
          <p:cNvPr id="15" name="Shape 9"/>
          <p:cNvSpPr/>
          <p:nvPr/>
        </p:nvSpPr>
        <p:spPr>
          <a:xfrm>
            <a:off x="777240" y="5870448"/>
            <a:ext cx="73152" cy="73152"/>
          </a:xfrm>
          <a:prstGeom prst="ellipse">
            <a:avLst/>
          </a:prstGeom>
          <a:solidFill>
            <a:srgbClr val="FF5A5F"/>
          </a:solidFill>
          <a:ln/>
        </p:spPr>
      </p:sp>
      <p:sp>
        <p:nvSpPr>
          <p:cNvPr id="16" name="Text 10"/>
          <p:cNvSpPr/>
          <p:nvPr/>
        </p:nvSpPr>
        <p:spPr>
          <a:xfrm>
            <a:off x="960120" y="5742432"/>
            <a:ext cx="10561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10 priciest neighborhoods (e.g. Fort Wadsworth $800, Tribeca $490.64) sit well above the citywide median of $106.</a:t>
            </a:r>
            <a:endParaRPr lang="en-US" sz="1200" dirty="0"/>
          </a:p>
        </p:txBody>
      </p:sp>
      <p:sp>
        <p:nvSpPr>
          <p:cNvPr id="17" name="Text 11"/>
          <p:cNvSpPr/>
          <p:nvPr/>
        </p:nvSpPr>
        <p:spPr>
          <a:xfrm>
            <a:off x="10911535" y="647395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5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 DATA ENGINEERING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Creation for the Pricing Engine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3657600" cy="2331720"/>
          </a:xfrm>
          <a:prstGeom prst="roundRect">
            <a:avLst>
              <a:gd name="adj" fmla="val 3137"/>
            </a:avLst>
          </a:prstGeom>
          <a:solidFill>
            <a:srgbClr val="F7F7F7"/>
          </a:solidFill>
          <a:ln/>
        </p:spPr>
      </p:sp>
      <p:sp>
        <p:nvSpPr>
          <p:cNvPr id="5" name="Shape 3"/>
          <p:cNvSpPr/>
          <p:nvPr/>
        </p:nvSpPr>
        <p:spPr>
          <a:xfrm>
            <a:off x="804672" y="1737360"/>
            <a:ext cx="502920" cy="502920"/>
          </a:xfrm>
          <a:prstGeom prst="ellipse">
            <a:avLst/>
          </a:prstGeom>
          <a:solidFill>
            <a:srgbClr val="FF5A5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5431" y="1868119"/>
            <a:ext cx="241402" cy="2414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23317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price_category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04672" y="2670048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 / Standard / Premium / Luxury tiers from price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04672" y="3364992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i="1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23,917 Budget · 16,583 Standard · 7,340 Premium · 1,044 Luxury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407408" y="1481328"/>
            <a:ext cx="3657600" cy="2331720"/>
          </a:xfrm>
          <a:prstGeom prst="roundRect">
            <a:avLst>
              <a:gd name="adj" fmla="val 3137"/>
            </a:avLst>
          </a:prstGeom>
          <a:solidFill>
            <a:srgbClr val="F7F7F7"/>
          </a:solidFill>
          <a:ln/>
        </p:spPr>
      </p:sp>
      <p:sp>
        <p:nvSpPr>
          <p:cNvPr id="11" name="Shape 8"/>
          <p:cNvSpPr/>
          <p:nvPr/>
        </p:nvSpPr>
        <p:spPr>
          <a:xfrm>
            <a:off x="4663440" y="1737360"/>
            <a:ext cx="502920" cy="502920"/>
          </a:xfrm>
          <a:prstGeom prst="ellipse">
            <a:avLst/>
          </a:prstGeom>
          <a:solidFill>
            <a:srgbClr val="FF5A5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4199" y="1868119"/>
            <a:ext cx="241402" cy="24140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63440" y="23317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availability_category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4663440" y="2670048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Available / Low / Medium / High from availability_365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4663440" y="3364992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i="1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17,533 · 13,060 · 6,686 · 11,616 listings respectively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8266176" y="1481328"/>
            <a:ext cx="3657600" cy="2331720"/>
          </a:xfrm>
          <a:prstGeom prst="roundRect">
            <a:avLst>
              <a:gd name="adj" fmla="val 3137"/>
            </a:avLst>
          </a:prstGeom>
          <a:solidFill>
            <a:srgbClr val="F7F7F7"/>
          </a:solidFill>
          <a:ln/>
        </p:spPr>
      </p:sp>
      <p:sp>
        <p:nvSpPr>
          <p:cNvPr id="17" name="Shape 13"/>
          <p:cNvSpPr/>
          <p:nvPr/>
        </p:nvSpPr>
        <p:spPr>
          <a:xfrm>
            <a:off x="8522208" y="1737360"/>
            <a:ext cx="502920" cy="502920"/>
          </a:xfrm>
          <a:prstGeom prst="ellipse">
            <a:avLst/>
          </a:prstGeom>
          <a:solidFill>
            <a:srgbClr val="FF5A5F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2967" y="1868119"/>
            <a:ext cx="241402" cy="24140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522208" y="23317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review_category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8522208" y="2670048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/ Medium / High / Very High from number_of_reviews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8522208" y="3364992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i="1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30,323 · 11,613 · 3,964 · 2,995 listings respectively</a:t>
            </a:r>
            <a:endParaRPr lang="en-US" sz="900" dirty="0"/>
          </a:p>
        </p:txBody>
      </p:sp>
      <p:sp>
        <p:nvSpPr>
          <p:cNvPr id="22" name="Shape 17"/>
          <p:cNvSpPr/>
          <p:nvPr/>
        </p:nvSpPr>
        <p:spPr>
          <a:xfrm>
            <a:off x="548640" y="4069080"/>
            <a:ext cx="11109960" cy="2240280"/>
          </a:xfrm>
          <a:prstGeom prst="roundRect">
            <a:avLst>
              <a:gd name="adj" fmla="val 3265"/>
            </a:avLst>
          </a:prstGeom>
          <a:solidFill>
            <a:srgbClr val="2D2D2D"/>
          </a:solidFill>
          <a:ln/>
        </p:spPr>
      </p:sp>
      <p:sp>
        <p:nvSpPr>
          <p:cNvPr id="23" name="Text 18"/>
          <p:cNvSpPr/>
          <p:nvPr/>
        </p:nvSpPr>
        <p:spPr>
          <a:xfrm>
            <a:off x="868680" y="427939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Three Columns That Power the Recommendation Engine</a:t>
            </a:r>
            <a:endParaRPr lang="en-US" sz="1400" dirty="0"/>
          </a:p>
        </p:txBody>
      </p:sp>
      <p:sp>
        <p:nvSpPr>
          <p:cNvPr id="24" name="Shape 19"/>
          <p:cNvSpPr/>
          <p:nvPr/>
        </p:nvSpPr>
        <p:spPr>
          <a:xfrm>
            <a:off x="868680" y="4754880"/>
            <a:ext cx="3520440" cy="1371600"/>
          </a:xfrm>
          <a:prstGeom prst="roundRect">
            <a:avLst>
              <a:gd name="adj" fmla="val 5333"/>
            </a:avLst>
          </a:prstGeom>
          <a:solidFill>
            <a:srgbClr val="3A3A3A"/>
          </a:solidFill>
          <a:ln/>
        </p:spPr>
      </p:sp>
      <p:sp>
        <p:nvSpPr>
          <p:cNvPr id="25" name="Text 20"/>
          <p:cNvSpPr/>
          <p:nvPr/>
        </p:nvSpPr>
        <p:spPr>
          <a:xfrm>
            <a:off x="1051560" y="48920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6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recommended_price</a:t>
            </a:r>
            <a:endParaRPr lang="en-US" sz="1300" dirty="0"/>
          </a:p>
        </p:txBody>
      </p:sp>
      <p:sp>
        <p:nvSpPr>
          <p:cNvPr id="26" name="Text 21"/>
          <p:cNvSpPr/>
          <p:nvPr/>
        </p:nvSpPr>
        <p:spPr>
          <a:xfrm>
            <a:off x="1051560" y="5230368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DADA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price of comparable listings (same borough + room type)</a:t>
            </a:r>
            <a:endParaRPr lang="en-US" sz="1050" dirty="0"/>
          </a:p>
        </p:txBody>
      </p:sp>
      <p:sp>
        <p:nvSpPr>
          <p:cNvPr id="27" name="Shape 22"/>
          <p:cNvSpPr/>
          <p:nvPr/>
        </p:nvSpPr>
        <p:spPr>
          <a:xfrm>
            <a:off x="4572000" y="4754880"/>
            <a:ext cx="3520440" cy="1371600"/>
          </a:xfrm>
          <a:prstGeom prst="roundRect">
            <a:avLst>
              <a:gd name="adj" fmla="val 5333"/>
            </a:avLst>
          </a:prstGeom>
          <a:solidFill>
            <a:srgbClr val="3A3A3A"/>
          </a:solidFill>
          <a:ln/>
        </p:spPr>
      </p:sp>
      <p:sp>
        <p:nvSpPr>
          <p:cNvPr id="28" name="Text 23"/>
          <p:cNvSpPr/>
          <p:nvPr/>
        </p:nvSpPr>
        <p:spPr>
          <a:xfrm>
            <a:off x="4754880" y="48920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6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price_difference</a:t>
            </a:r>
            <a:endParaRPr lang="en-US" sz="1300" dirty="0"/>
          </a:p>
        </p:txBody>
      </p:sp>
      <p:sp>
        <p:nvSpPr>
          <p:cNvPr id="29" name="Text 24"/>
          <p:cNvSpPr/>
          <p:nvPr/>
        </p:nvSpPr>
        <p:spPr>
          <a:xfrm>
            <a:off x="4754880" y="5230368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DADA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recommended_price minus the listing's current price</a:t>
            </a:r>
            <a:endParaRPr lang="en-US" sz="1050" dirty="0"/>
          </a:p>
        </p:txBody>
      </p:sp>
      <p:sp>
        <p:nvSpPr>
          <p:cNvPr id="30" name="Shape 25"/>
          <p:cNvSpPr/>
          <p:nvPr/>
        </p:nvSpPr>
        <p:spPr>
          <a:xfrm>
            <a:off x="8275320" y="4754880"/>
            <a:ext cx="3520440" cy="1371600"/>
          </a:xfrm>
          <a:prstGeom prst="roundRect">
            <a:avLst>
              <a:gd name="adj" fmla="val 5333"/>
            </a:avLst>
          </a:prstGeom>
          <a:solidFill>
            <a:srgbClr val="3A3A3A"/>
          </a:solidFill>
          <a:ln/>
        </p:spPr>
      </p:sp>
      <p:sp>
        <p:nvSpPr>
          <p:cNvPr id="31" name="Text 26"/>
          <p:cNvSpPr/>
          <p:nvPr/>
        </p:nvSpPr>
        <p:spPr>
          <a:xfrm>
            <a:off x="8458200" y="48920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6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pricing_status</a:t>
            </a:r>
            <a:endParaRPr lang="en-US" sz="1300" dirty="0"/>
          </a:p>
        </p:txBody>
      </p:sp>
      <p:sp>
        <p:nvSpPr>
          <p:cNvPr id="32" name="Text 27"/>
          <p:cNvSpPr/>
          <p:nvPr/>
        </p:nvSpPr>
        <p:spPr>
          <a:xfrm>
            <a:off x="8458200" y="5230368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DADA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Increase / Maintain / Lower — the final recommendation label</a:t>
            </a:r>
            <a:endParaRPr lang="en-US" sz="1050" dirty="0"/>
          </a:p>
        </p:txBody>
      </p:sp>
      <p:sp>
        <p:nvSpPr>
          <p:cNvPr id="33" name="Text 28"/>
          <p:cNvSpPr/>
          <p:nvPr/>
        </p:nvSpPr>
        <p:spPr>
          <a:xfrm>
            <a:off x="10911535" y="647395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5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METHODOLOGY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Recommendation Engine Works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listing is compared only to its true peer group — listings in the same borough (neighbourhood_group) and of the same room_type. The median price of that peer group becomes the fair-market benchmark.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6675120" cy="868680"/>
          </a:xfrm>
          <a:prstGeom prst="roundRect">
            <a:avLst>
              <a:gd name="adj" fmla="val 8421"/>
            </a:avLst>
          </a:prstGeom>
          <a:solidFill>
            <a:srgbClr val="2D2D2D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286000"/>
            <a:ext cx="6217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A6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recommended_price</a:t>
            </a:r>
            <a:pPr indent="0" marL="0">
              <a:buNone/>
            </a:pPr>
            <a:r>
              <a:rPr lang="en-US" sz="1250" dirty="0">
                <a:solidFill>
                  <a:srgbClr val="E4E4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=  median( price )  grouped by  </a:t>
            </a:r>
            <a:pPr indent="0" marL="0">
              <a:buNone/>
            </a:pPr>
            <a:r>
              <a:rPr lang="en-US" sz="1250" b="1" dirty="0">
                <a:solidFill>
                  <a:srgbClr val="FF5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[neighbourhood_group, room_type]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33649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Peer-Group Median Price Benchmark ($)</a:t>
            </a:r>
            <a:endParaRPr lang="en-US" sz="12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657600"/>
          <a:ext cx="6675120" cy="1920240"/>
        </p:xfrm>
        <a:graphic>
          <a:graphicData uri="http://schemas.openxmlformats.org/drawingml/2006/table">
            <a:tbl>
              <a:tblPr/>
              <a:tblGrid>
                <a:gridCol w="1828800"/>
                <a:gridCol w="1737360"/>
                <a:gridCol w="1600200"/>
                <a:gridCol w="1508760"/>
              </a:tblGrid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Borough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Entire home/apt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room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Shared room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Manhattan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$191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Brooklyn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$145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Queens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Bronx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$100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$53.5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Staten Island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$100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48640" y="562356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medians computed from the engineered dataset (airbnb_EDA_Engineered.xlsx)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7543800" y="1417320"/>
            <a:ext cx="4114800" cy="4480560"/>
          </a:xfrm>
          <a:prstGeom prst="roundRect">
            <a:avLst>
              <a:gd name="adj" fmla="val 1778"/>
            </a:avLst>
          </a:prstGeom>
          <a:solidFill>
            <a:srgbClr val="F7F7F7"/>
          </a:solidFill>
          <a:ln/>
        </p:spPr>
      </p:sp>
      <p:sp>
        <p:nvSpPr>
          <p:cNvPr id="11" name="Text 8"/>
          <p:cNvSpPr/>
          <p:nvPr/>
        </p:nvSpPr>
        <p:spPr>
          <a:xfrm>
            <a:off x="7818120" y="16276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Logic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7818120" y="2148840"/>
            <a:ext cx="457200" cy="457200"/>
          </a:xfrm>
          <a:prstGeom prst="ellipse">
            <a:avLst/>
          </a:prstGeom>
          <a:solidFill>
            <a:srgbClr val="FF5A5F"/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6992" y="2267712"/>
            <a:ext cx="219456" cy="21945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8458200" y="213055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&lt; 90% of benchmark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8458200" y="2368296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Increase Price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7818120" y="3017520"/>
            <a:ext cx="457200" cy="457200"/>
          </a:xfrm>
          <a:prstGeom prst="ellipse">
            <a:avLst/>
          </a:prstGeom>
          <a:solidFill>
            <a:srgbClr val="00A699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6992" y="3136392"/>
            <a:ext cx="219456" cy="21945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458200" y="299923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within ±10% of benchmark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8458200" y="3236976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Maintain Price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7818120" y="3886200"/>
            <a:ext cx="457200" cy="457200"/>
          </a:xfrm>
          <a:prstGeom prst="ellipse">
            <a:avLst/>
          </a:prstGeom>
          <a:solidFill>
            <a:srgbClr val="FFB400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6992" y="4005072"/>
            <a:ext cx="219456" cy="21945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458200" y="386791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&gt; 110% of benchmark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8458200" y="4105656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Consider Lowering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7818120" y="4800600"/>
            <a:ext cx="3566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chosen over mean to stay resistant to extreme outlier prices (e.g. the $10,000 max listing) within each peer group.</a:t>
            </a:r>
            <a:endParaRPr lang="en-US" sz="1050" dirty="0"/>
          </a:p>
        </p:txBody>
      </p:sp>
      <p:sp>
        <p:nvSpPr>
          <p:cNvPr id="25" name="Text 19"/>
          <p:cNvSpPr/>
          <p:nvPr/>
        </p:nvSpPr>
        <p:spPr>
          <a:xfrm>
            <a:off x="10911535" y="647395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5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OUTPUT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 Rules &amp; Outcomes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3611880" cy="2788920"/>
          </a:xfrm>
          <a:prstGeom prst="roundRect">
            <a:avLst>
              <a:gd name="adj" fmla="val 2623"/>
            </a:avLst>
          </a:prstGeom>
          <a:solidFill>
            <a:srgbClr val="F7F7F7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755648"/>
            <a:ext cx="566928" cy="566928"/>
          </a:xfrm>
          <a:prstGeom prst="ellipse">
            <a:avLst/>
          </a:prstGeom>
          <a:solidFill>
            <a:srgbClr val="FF5A5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0361" y="1903049"/>
            <a:ext cx="272125" cy="2721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4231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Increase Price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281635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767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price &lt; 90% of recommended_price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822960" y="336499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5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20,104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822960" y="38862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41.1% of listings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361688" y="1481328"/>
            <a:ext cx="3611880" cy="2788920"/>
          </a:xfrm>
          <a:prstGeom prst="roundRect">
            <a:avLst>
              <a:gd name="adj" fmla="val 2623"/>
            </a:avLst>
          </a:prstGeom>
          <a:solidFill>
            <a:srgbClr val="F7F7F7"/>
          </a:solidFill>
          <a:ln/>
        </p:spPr>
      </p:sp>
      <p:sp>
        <p:nvSpPr>
          <p:cNvPr id="12" name="Shape 9"/>
          <p:cNvSpPr/>
          <p:nvPr/>
        </p:nvSpPr>
        <p:spPr>
          <a:xfrm>
            <a:off x="4636008" y="1755648"/>
            <a:ext cx="566928" cy="566928"/>
          </a:xfrm>
          <a:prstGeom prst="ellipse">
            <a:avLst/>
          </a:prstGeom>
          <a:solidFill>
            <a:srgbClr val="00A699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3409" y="1903049"/>
            <a:ext cx="272125" cy="272125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636008" y="24231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Maintain Price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4636008" y="281635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767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within ±10% of recommended_price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4636008" y="336499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A6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9,808</a:t>
            </a:r>
            <a:endParaRPr lang="en-US" sz="2600" dirty="0"/>
          </a:p>
        </p:txBody>
      </p:sp>
      <p:sp>
        <p:nvSpPr>
          <p:cNvPr id="17" name="Text 13"/>
          <p:cNvSpPr/>
          <p:nvPr/>
        </p:nvSpPr>
        <p:spPr>
          <a:xfrm>
            <a:off x="4636008" y="38862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20.1% of listings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8174736" y="1481328"/>
            <a:ext cx="3611880" cy="2788920"/>
          </a:xfrm>
          <a:prstGeom prst="roundRect">
            <a:avLst>
              <a:gd name="adj" fmla="val 2623"/>
            </a:avLst>
          </a:prstGeom>
          <a:solidFill>
            <a:srgbClr val="F7F7F7"/>
          </a:solidFill>
          <a:ln/>
        </p:spPr>
      </p:sp>
      <p:sp>
        <p:nvSpPr>
          <p:cNvPr id="19" name="Shape 15"/>
          <p:cNvSpPr/>
          <p:nvPr/>
        </p:nvSpPr>
        <p:spPr>
          <a:xfrm>
            <a:off x="8449056" y="1755648"/>
            <a:ext cx="566928" cy="566928"/>
          </a:xfrm>
          <a:prstGeom prst="ellipse">
            <a:avLst/>
          </a:prstGeom>
          <a:solidFill>
            <a:srgbClr val="FFB400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6457" y="1903049"/>
            <a:ext cx="272125" cy="272125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449056" y="24231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Consider Lowering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8449056" y="281635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767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price &gt; 110% of recommended_price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8449056" y="336499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B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18,983</a:t>
            </a:r>
            <a:endParaRPr lang="en-US" sz="2600" dirty="0"/>
          </a:p>
        </p:txBody>
      </p:sp>
      <p:sp>
        <p:nvSpPr>
          <p:cNvPr id="24" name="Text 19"/>
          <p:cNvSpPr/>
          <p:nvPr/>
        </p:nvSpPr>
        <p:spPr>
          <a:xfrm>
            <a:off x="8449056" y="38862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38.8% of listings</a:t>
            </a:r>
            <a:endParaRPr lang="en-US" sz="1050" dirty="0"/>
          </a:p>
        </p:txBody>
      </p:sp>
      <p:sp>
        <p:nvSpPr>
          <p:cNvPr id="25" name="Text 20"/>
          <p:cNvSpPr/>
          <p:nvPr/>
        </p:nvSpPr>
        <p:spPr>
          <a:xfrm>
            <a:off x="548640" y="45262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Distribution of Pricing Recommendations</a:t>
            </a:r>
            <a:endParaRPr lang="en-US" sz="1350" dirty="0"/>
          </a:p>
        </p:txBody>
      </p:sp>
      <p:graphicFrame>
        <p:nvGraphicFramePr>
          <p:cNvPr id="26" name="Chart 0" descr=""/>
          <p:cNvGraphicFramePr/>
          <p:nvPr/>
        </p:nvGraphicFramePr>
        <p:xfrm>
          <a:off x="365760" y="4800600"/>
          <a:ext cx="4206240" cy="1874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7" name="Shape 21"/>
          <p:cNvSpPr/>
          <p:nvPr/>
        </p:nvSpPr>
        <p:spPr>
          <a:xfrm>
            <a:off x="4892040" y="4800600"/>
            <a:ext cx="6766560" cy="1874520"/>
          </a:xfrm>
          <a:prstGeom prst="roundRect">
            <a:avLst>
              <a:gd name="adj" fmla="val 3902"/>
            </a:avLst>
          </a:prstGeom>
          <a:solidFill>
            <a:srgbClr val="2D2D2D"/>
          </a:solidFill>
          <a:ln/>
        </p:spPr>
      </p:sp>
      <p:sp>
        <p:nvSpPr>
          <p:cNvPr id="28" name="Text 22"/>
          <p:cNvSpPr/>
          <p:nvPr/>
        </p:nvSpPr>
        <p:spPr>
          <a:xfrm>
            <a:off x="5166360" y="495604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Reading the Result</a:t>
            </a:r>
            <a:endParaRPr lang="en-US" sz="1300" dirty="0"/>
          </a:p>
        </p:txBody>
      </p:sp>
      <p:sp>
        <p:nvSpPr>
          <p:cNvPr id="29" name="Text 23"/>
          <p:cNvSpPr/>
          <p:nvPr/>
        </p:nvSpPr>
        <p:spPr>
          <a:xfrm>
            <a:off x="5166360" y="5285232"/>
            <a:ext cx="6263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DADA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Nearly 4 in 5 listings sit outside the ±10% comfort zone — most hosts are leaving revenue on the table (underpriced) or risking lower booking rates (overpriced). Only 1 in 5 listings is already priced optimally against comparable inventory.</a:t>
            </a:r>
            <a:endParaRPr lang="en-US" sz="1150" dirty="0"/>
          </a:p>
        </p:txBody>
      </p:sp>
      <p:sp>
        <p:nvSpPr>
          <p:cNvPr id="30" name="Text 24"/>
          <p:cNvSpPr/>
          <p:nvPr/>
        </p:nvSpPr>
        <p:spPr>
          <a:xfrm>
            <a:off x="10911535" y="647395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5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BI DASHBOARD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Pricing Intelligence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7360920" cy="4041648"/>
          </a:xfrm>
          <a:prstGeom prst="roundRect">
            <a:avLst>
              <a:gd name="adj" fmla="val 1357"/>
            </a:avLst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</p:spPr>
      </p:sp>
      <p:pic>
        <p:nvPicPr>
          <p:cNvPr id="5" name="Image 0" descr="/home/claude/assets/dash_pric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490472"/>
            <a:ext cx="7214616" cy="38953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550468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Pricing Recommendation Engine — page 3 of 3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8092440" y="1417320"/>
            <a:ext cx="3566160" cy="1956816"/>
          </a:xfrm>
          <a:prstGeom prst="roundRect">
            <a:avLst>
              <a:gd name="adj" fmla="val 2804"/>
            </a:avLst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</p:spPr>
      </p:sp>
      <p:pic>
        <p:nvPicPr>
          <p:cNvPr id="8" name="Image 1" descr="/home/claude/assets/dash_overvie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7304" y="1472184"/>
            <a:ext cx="3456432" cy="184708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092440" y="338328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1 — Market Overview</a:t>
            </a:r>
            <a:endParaRPr lang="en-US" sz="950" dirty="0"/>
          </a:p>
        </p:txBody>
      </p:sp>
      <p:sp>
        <p:nvSpPr>
          <p:cNvPr id="10" name="Shape 6"/>
          <p:cNvSpPr/>
          <p:nvPr/>
        </p:nvSpPr>
        <p:spPr>
          <a:xfrm>
            <a:off x="8092440" y="3703320"/>
            <a:ext cx="3566160" cy="1956816"/>
          </a:xfrm>
          <a:prstGeom prst="roundRect">
            <a:avLst>
              <a:gd name="adj" fmla="val 2804"/>
            </a:avLst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</p:spPr>
      </p:sp>
      <p:pic>
        <p:nvPicPr>
          <p:cNvPr id="11" name="Image 2" descr="/home/claude/assets/dash_marke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7304" y="3758184"/>
            <a:ext cx="3456432" cy="184708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092440" y="566928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2 — Market &amp; Pricing Insights</a:t>
            </a:r>
            <a:endParaRPr lang="en-US" sz="950" dirty="0"/>
          </a:p>
        </p:txBody>
      </p:sp>
      <p:sp>
        <p:nvSpPr>
          <p:cNvPr id="13" name="Text 8"/>
          <p:cNvSpPr/>
          <p:nvPr/>
        </p:nvSpPr>
        <p:spPr>
          <a:xfrm>
            <a:off x="10911535" y="647395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5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WHAT?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Insights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02920" cy="502920"/>
          </a:xfrm>
          <a:prstGeom prst="ellipse">
            <a:avLst/>
          </a:prstGeom>
          <a:solidFill>
            <a:srgbClr val="FF5A5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9399" y="1639519"/>
            <a:ext cx="241402" cy="24140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49047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Borough price gap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160520" y="1463040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Manhattan averages $196.88/night — 2.25x Bronx's $87.50 — the single biggest price driver in the market.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48640" y="2167128"/>
            <a:ext cx="11109960" cy="0"/>
          </a:xfrm>
          <a:prstGeom prst="line">
            <a:avLst/>
          </a:prstGeom>
          <a:noFill/>
          <a:ln w="12700">
            <a:solidFill>
              <a:srgbClr val="EDEDE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48640" y="2377440"/>
            <a:ext cx="502920" cy="502920"/>
          </a:xfrm>
          <a:prstGeom prst="ellipse">
            <a:avLst/>
          </a:prstGeom>
          <a:solidFill>
            <a:srgbClr val="00A699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399" y="2508199"/>
            <a:ext cx="241402" cy="24140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34440" y="235915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 vs. price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4160520" y="2331720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Brooklyn logs more total reviews (486,574) than pricier Manhattan (454,569), suggesting stronger booking turnover at lower price points.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548640" y="3035808"/>
            <a:ext cx="11109960" cy="0"/>
          </a:xfrm>
          <a:prstGeom prst="line">
            <a:avLst/>
          </a:prstGeom>
          <a:noFill/>
          <a:ln w="12700">
            <a:solidFill>
              <a:srgbClr val="EDEDED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548640" y="3246120"/>
            <a:ext cx="502920" cy="502920"/>
          </a:xfrm>
          <a:prstGeom prst="ellipse">
            <a:avLst/>
          </a:prstGeom>
          <a:solidFill>
            <a:srgbClr val="FFB400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399" y="3376879"/>
            <a:ext cx="241402" cy="24140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234440" y="322783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Room type premium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4160520" y="3200400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Entire home/apt commands $211.79 on average — 2.4x a private room ($89.78) and 3x a shared room ($70.13).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548640" y="3904488"/>
            <a:ext cx="11109960" cy="0"/>
          </a:xfrm>
          <a:prstGeom prst="line">
            <a:avLst/>
          </a:prstGeom>
          <a:noFill/>
          <a:ln w="12700">
            <a:solidFill>
              <a:srgbClr val="EDEDED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548640" y="4114800"/>
            <a:ext cx="502920" cy="502920"/>
          </a:xfrm>
          <a:prstGeom prst="ellipse">
            <a:avLst/>
          </a:prstGeom>
          <a:solidFill>
            <a:srgbClr val="FF5A5F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399" y="4245559"/>
            <a:ext cx="241402" cy="24140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234440" y="409651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opportunity</a:t>
            </a:r>
            <a:endParaRPr lang="en-US" sz="1350" dirty="0"/>
          </a:p>
        </p:txBody>
      </p:sp>
      <p:sp>
        <p:nvSpPr>
          <p:cNvPr id="22" name="Text 16"/>
          <p:cNvSpPr/>
          <p:nvPr/>
        </p:nvSpPr>
        <p:spPr>
          <a:xfrm>
            <a:off x="4160520" y="4069080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41.1% of listings (20,104) are priced below their peer-group median — the largest single group in the recommendation output.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548640" y="4773168"/>
            <a:ext cx="11109960" cy="0"/>
          </a:xfrm>
          <a:prstGeom prst="line">
            <a:avLst/>
          </a:prstGeom>
          <a:noFill/>
          <a:ln w="12700">
            <a:solidFill>
              <a:srgbClr val="EDEDED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548640" y="4983480"/>
            <a:ext cx="502920" cy="502920"/>
          </a:xfrm>
          <a:prstGeom prst="ellipse">
            <a:avLst/>
          </a:prstGeom>
          <a:solidFill>
            <a:srgbClr val="00A699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9399" y="5114239"/>
            <a:ext cx="241402" cy="241402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234440" y="496519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Supply vs. turnover</a:t>
            </a:r>
            <a:endParaRPr lang="en-US" sz="1350" dirty="0"/>
          </a:p>
        </p:txBody>
      </p:sp>
      <p:sp>
        <p:nvSpPr>
          <p:cNvPr id="27" name="Text 20"/>
          <p:cNvSpPr/>
          <p:nvPr/>
        </p:nvSpPr>
        <p:spPr>
          <a:xfrm>
            <a:off x="4160520" y="4937760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Staten Island has the highest average availability (199.7 of 365 days) — a signal of lower demand relative to booking pace.</a:t>
            </a:r>
            <a:endParaRPr lang="en-US" sz="1150" dirty="0"/>
          </a:p>
        </p:txBody>
      </p:sp>
      <p:sp>
        <p:nvSpPr>
          <p:cNvPr id="28" name="Text 21"/>
          <p:cNvSpPr/>
          <p:nvPr/>
        </p:nvSpPr>
        <p:spPr>
          <a:xfrm>
            <a:off x="10911535" y="647395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D2D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828800"/>
            <a:ext cx="5029200" cy="5029200"/>
          </a:xfrm>
          <a:prstGeom prst="ellipse">
            <a:avLst/>
          </a:prstGeom>
          <a:solidFill>
            <a:srgbClr val="E14850">
              <a:alpha val="3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0A6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CLOSING THE LOOP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Limitations &amp; Conclusion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536192"/>
            <a:ext cx="457200" cy="457200"/>
          </a:xfrm>
          <a:prstGeom prst="ellipse">
            <a:avLst/>
          </a:prstGeom>
          <a:solidFill>
            <a:srgbClr val="FFB40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1655064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43000" y="159105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66928" y="2212848"/>
            <a:ext cx="64008" cy="64008"/>
          </a:xfrm>
          <a:prstGeom prst="ellipse">
            <a:avLst/>
          </a:prstGeom>
          <a:solidFill>
            <a:srgbClr val="FFB400"/>
          </a:solidFill>
          <a:ln/>
        </p:spPr>
      </p:sp>
      <p:sp>
        <p:nvSpPr>
          <p:cNvPr id="9" name="Text 6"/>
          <p:cNvSpPr/>
          <p:nvPr/>
        </p:nvSpPr>
        <p:spPr>
          <a:xfrm>
            <a:off x="777240" y="2093976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D8D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Peer group is defined only by borough + room type — amenities, review quality, and seasonality aren't factored in.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66928" y="2834640"/>
            <a:ext cx="64008" cy="64008"/>
          </a:xfrm>
          <a:prstGeom prst="ellipse">
            <a:avLst/>
          </a:prstGeom>
          <a:solidFill>
            <a:srgbClr val="FFB400"/>
          </a:solidFill>
          <a:ln/>
        </p:spPr>
      </p:sp>
      <p:sp>
        <p:nvSpPr>
          <p:cNvPr id="11" name="Text 8"/>
          <p:cNvSpPr/>
          <p:nvPr/>
        </p:nvSpPr>
        <p:spPr>
          <a:xfrm>
            <a:off x="777240" y="2715768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D8D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data includes listings priced at $0, a likely data artifact not fully filtered before analysis.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66928" y="3456432"/>
            <a:ext cx="64008" cy="64008"/>
          </a:xfrm>
          <a:prstGeom prst="ellipse">
            <a:avLst/>
          </a:prstGeom>
          <a:solidFill>
            <a:srgbClr val="FFB400"/>
          </a:solidFill>
          <a:ln/>
        </p:spPr>
      </p:sp>
      <p:sp>
        <p:nvSpPr>
          <p:cNvPr id="13" name="Text 10"/>
          <p:cNvSpPr/>
          <p:nvPr/>
        </p:nvSpPr>
        <p:spPr>
          <a:xfrm>
            <a:off x="777240" y="3337560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D8D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can be less stable in small segments (e.g. Staten Island shared rooms, n &lt; 40).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66928" y="4078224"/>
            <a:ext cx="64008" cy="64008"/>
          </a:xfrm>
          <a:prstGeom prst="ellipse">
            <a:avLst/>
          </a:prstGeom>
          <a:solidFill>
            <a:srgbClr val="FFB400"/>
          </a:solidFill>
          <a:ln/>
        </p:spPr>
      </p:sp>
      <p:sp>
        <p:nvSpPr>
          <p:cNvPr id="15" name="Text 12"/>
          <p:cNvSpPr/>
          <p:nvPr/>
        </p:nvSpPr>
        <p:spPr>
          <a:xfrm>
            <a:off x="777240" y="3959352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D8D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static snapshot — no time-series or seasonal demand adjustment.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66928" y="4700016"/>
            <a:ext cx="64008" cy="64008"/>
          </a:xfrm>
          <a:prstGeom prst="ellipse">
            <a:avLst/>
          </a:prstGeom>
          <a:solidFill>
            <a:srgbClr val="FFB400"/>
          </a:solidFill>
          <a:ln/>
        </p:spPr>
      </p:sp>
      <p:sp>
        <p:nvSpPr>
          <p:cNvPr id="17" name="Text 14"/>
          <p:cNvSpPr/>
          <p:nvPr/>
        </p:nvSpPr>
        <p:spPr>
          <a:xfrm>
            <a:off x="777240" y="4581144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D8D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Delivered as a transparent, rule-based benchmark rather than a predictive ML pricing model.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355080" y="1463040"/>
            <a:ext cx="5303520" cy="4892040"/>
          </a:xfrm>
          <a:prstGeom prst="roundRect">
            <a:avLst>
              <a:gd name="adj" fmla="val 1495"/>
            </a:avLst>
          </a:prstGeom>
          <a:solidFill>
            <a:srgbClr val="383838"/>
          </a:solidFill>
          <a:ln/>
        </p:spPr>
      </p:sp>
      <p:sp>
        <p:nvSpPr>
          <p:cNvPr id="19" name="Shape 16"/>
          <p:cNvSpPr/>
          <p:nvPr/>
        </p:nvSpPr>
        <p:spPr>
          <a:xfrm>
            <a:off x="6656832" y="1737360"/>
            <a:ext cx="457200" cy="457200"/>
          </a:xfrm>
          <a:prstGeom prst="ellipse">
            <a:avLst/>
          </a:prstGeom>
          <a:solidFill>
            <a:srgbClr val="FF5A5F"/>
          </a:solidFill>
          <a:ln/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5704" y="1856232"/>
            <a:ext cx="219456" cy="219456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7251192" y="179222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22" name="Text 18"/>
          <p:cNvSpPr/>
          <p:nvPr/>
        </p:nvSpPr>
        <p:spPr>
          <a:xfrm>
            <a:off x="6656832" y="2286000"/>
            <a:ext cx="4709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E4E4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end-to-end analytics pipeline — Python cleaning &amp; EDA, Excel feature engineering, a transparent rule-based pricing engine, and a Power BI dashboard — turns 48,895 raw listings into a clear, explainable action for every host: increase, maintain, or lower price.</a:t>
            </a:r>
            <a:endParaRPr lang="en-US" sz="1250" dirty="0"/>
          </a:p>
        </p:txBody>
      </p:sp>
      <p:sp>
        <p:nvSpPr>
          <p:cNvPr id="23" name="Shape 19"/>
          <p:cNvSpPr/>
          <p:nvPr/>
        </p:nvSpPr>
        <p:spPr>
          <a:xfrm>
            <a:off x="6656832" y="3886200"/>
            <a:ext cx="4709160" cy="457200"/>
          </a:xfrm>
          <a:prstGeom prst="roundRect">
            <a:avLst>
              <a:gd name="adj" fmla="val 16000"/>
            </a:avLst>
          </a:prstGeom>
          <a:solidFill>
            <a:srgbClr val="2D2D2D"/>
          </a:solidFill>
          <a:ln/>
        </p:spPr>
      </p:sp>
      <p:sp>
        <p:nvSpPr>
          <p:cNvPr id="24" name="Text 20"/>
          <p:cNvSpPr/>
          <p:nvPr/>
        </p:nvSpPr>
        <p:spPr>
          <a:xfrm>
            <a:off x="6812280" y="388620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6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25" name="Text 21"/>
          <p:cNvSpPr/>
          <p:nvPr/>
        </p:nvSpPr>
        <p:spPr>
          <a:xfrm>
            <a:off x="7178040" y="388620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cleaning &amp; EDA</a:t>
            </a:r>
            <a:endParaRPr lang="en-US" sz="1200" dirty="0"/>
          </a:p>
        </p:txBody>
      </p:sp>
      <p:sp>
        <p:nvSpPr>
          <p:cNvPr id="26" name="Shape 22"/>
          <p:cNvSpPr/>
          <p:nvPr/>
        </p:nvSpPr>
        <p:spPr>
          <a:xfrm>
            <a:off x="6656832" y="4453128"/>
            <a:ext cx="4709160" cy="457200"/>
          </a:xfrm>
          <a:prstGeom prst="roundRect">
            <a:avLst>
              <a:gd name="adj" fmla="val 16000"/>
            </a:avLst>
          </a:prstGeom>
          <a:solidFill>
            <a:srgbClr val="2D2D2D"/>
          </a:solidFill>
          <a:ln/>
        </p:spPr>
      </p:sp>
      <p:sp>
        <p:nvSpPr>
          <p:cNvPr id="27" name="Text 23"/>
          <p:cNvSpPr/>
          <p:nvPr/>
        </p:nvSpPr>
        <p:spPr>
          <a:xfrm>
            <a:off x="6812280" y="4453128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6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28" name="Text 24"/>
          <p:cNvSpPr/>
          <p:nvPr/>
        </p:nvSpPr>
        <p:spPr>
          <a:xfrm>
            <a:off x="7178040" y="445312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engineering</a:t>
            </a:r>
            <a:endParaRPr lang="en-US" sz="1200" dirty="0"/>
          </a:p>
        </p:txBody>
      </p:sp>
      <p:sp>
        <p:nvSpPr>
          <p:cNvPr id="29" name="Shape 25"/>
          <p:cNvSpPr/>
          <p:nvPr/>
        </p:nvSpPr>
        <p:spPr>
          <a:xfrm>
            <a:off x="6656832" y="5020056"/>
            <a:ext cx="4709160" cy="457200"/>
          </a:xfrm>
          <a:prstGeom prst="roundRect">
            <a:avLst>
              <a:gd name="adj" fmla="val 16000"/>
            </a:avLst>
          </a:prstGeom>
          <a:solidFill>
            <a:srgbClr val="2D2D2D"/>
          </a:solidFill>
          <a:ln/>
        </p:spPr>
      </p:sp>
      <p:sp>
        <p:nvSpPr>
          <p:cNvPr id="30" name="Text 26"/>
          <p:cNvSpPr/>
          <p:nvPr/>
        </p:nvSpPr>
        <p:spPr>
          <a:xfrm>
            <a:off x="6812280" y="5020056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6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31" name="Text 27"/>
          <p:cNvSpPr/>
          <p:nvPr/>
        </p:nvSpPr>
        <p:spPr>
          <a:xfrm>
            <a:off x="7178040" y="5020056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rule design</a:t>
            </a:r>
            <a:endParaRPr lang="en-US" sz="1200" dirty="0"/>
          </a:p>
        </p:txBody>
      </p:sp>
      <p:sp>
        <p:nvSpPr>
          <p:cNvPr id="32" name="Shape 28"/>
          <p:cNvSpPr/>
          <p:nvPr/>
        </p:nvSpPr>
        <p:spPr>
          <a:xfrm>
            <a:off x="6656832" y="5586984"/>
            <a:ext cx="4709160" cy="457200"/>
          </a:xfrm>
          <a:prstGeom prst="roundRect">
            <a:avLst>
              <a:gd name="adj" fmla="val 16000"/>
            </a:avLst>
          </a:prstGeom>
          <a:solidFill>
            <a:srgbClr val="2D2D2D"/>
          </a:solidFill>
          <a:ln/>
        </p:spPr>
      </p:sp>
      <p:sp>
        <p:nvSpPr>
          <p:cNvPr id="33" name="Text 29"/>
          <p:cNvSpPr/>
          <p:nvPr/>
        </p:nvSpPr>
        <p:spPr>
          <a:xfrm>
            <a:off x="6812280" y="5586984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6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34" name="Text 30"/>
          <p:cNvSpPr/>
          <p:nvPr/>
        </p:nvSpPr>
        <p:spPr>
          <a:xfrm>
            <a:off x="7178040" y="5586984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storytelling</a:t>
            </a:r>
            <a:endParaRPr lang="en-US" sz="1200" dirty="0"/>
          </a:p>
        </p:txBody>
      </p:sp>
      <p:sp>
        <p:nvSpPr>
          <p:cNvPr id="35" name="Text 31"/>
          <p:cNvSpPr/>
          <p:nvPr/>
        </p:nvSpPr>
        <p:spPr>
          <a:xfrm>
            <a:off x="10911535" y="647395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010 / 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2026-07-25T14:49:04Z</dcterms:created>
  <dcterms:modified xsi:type="dcterms:W3CDTF">2026-07-25T14:49:04Z</dcterms:modified>
</cp:coreProperties>
</file>